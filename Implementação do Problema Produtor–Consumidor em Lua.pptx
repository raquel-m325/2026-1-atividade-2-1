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utura Bold" charset="1" panose="020B0702020204020203"/>
      <p:regular r:id="rId16"/>
    </p:embeddedFont>
    <p:embeddedFont>
      <p:font typeface="Futura" charset="1" panose="020B0502020204020303"/>
      <p:regular r:id="rId17"/>
    </p:embeddedFont>
    <p:embeddedFont>
      <p:font typeface="Futura Medium" charset="1" panose="020B05020202040203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svg" Type="http://schemas.openxmlformats.org/officeDocument/2006/relationships/image"/><Relationship Id="rId4" Target="../media/aAHOSmPzVYg.m4a" Type="http://schemas.microsoft.com/office/2007/relationships/media"/><Relationship Id="rId5" Target="../media/aAHOSmPzVYg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jpeg" Type="http://schemas.openxmlformats.org/officeDocument/2006/relationships/image"/><Relationship Id="rId6" Target="../media/VAHOSisetaI.mp4" Type="http://schemas.openxmlformats.org/officeDocument/2006/relationships/video"/><Relationship Id="rId7" Target="../media/VAHOSisetaI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04356" y="-6783863"/>
            <a:ext cx="23328625" cy="10253033"/>
            <a:chOff x="0" y="0"/>
            <a:chExt cx="6144165" cy="27003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44165" cy="2700387"/>
            </a:xfrm>
            <a:custGeom>
              <a:avLst/>
              <a:gdLst/>
              <a:ahLst/>
              <a:cxnLst/>
              <a:rect r="r" b="b" t="t" l="l"/>
              <a:pathLst>
                <a:path h="2700387" w="6144165">
                  <a:moveTo>
                    <a:pt x="0" y="0"/>
                  </a:moveTo>
                  <a:lnTo>
                    <a:pt x="6144165" y="0"/>
                  </a:lnTo>
                  <a:lnTo>
                    <a:pt x="6144165" y="2700387"/>
                  </a:lnTo>
                  <a:lnTo>
                    <a:pt x="0" y="270038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44165" cy="2738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6663" y="533653"/>
            <a:ext cx="17837689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 spc="36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IMPLEMENTAÇÃO DO PROBLEMA PRODUTOR–CONSUMIDOR</a:t>
            </a:r>
            <a:r>
              <a:rPr lang="en-US" b="true" sz="7200" spc="36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44783" y="4460587"/>
            <a:ext cx="4453512" cy="4453512"/>
          </a:xfrm>
          <a:custGeom>
            <a:avLst/>
            <a:gdLst/>
            <a:ahLst/>
            <a:cxnLst/>
            <a:rect r="r" b="b" t="t" l="l"/>
            <a:pathLst>
              <a:path h="4453512" w="4453512">
                <a:moveTo>
                  <a:pt x="0" y="0"/>
                </a:moveTo>
                <a:lnTo>
                  <a:pt x="4453511" y="0"/>
                </a:lnTo>
                <a:lnTo>
                  <a:pt x="4453511" y="4453512"/>
                </a:lnTo>
                <a:lnTo>
                  <a:pt x="0" y="44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>
                  <p14:trim st="0.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7"/>
                </p:tgtEl>
              </p:cBhvr>
            </p:cmd>
            <p:audio>
              <p:cMediaNode mute="true" vol="100000" showWhenStopped="false">
                <p:cTn/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673" y="446284"/>
            <a:ext cx="17432654" cy="9394432"/>
            <a:chOff x="0" y="0"/>
            <a:chExt cx="4591316" cy="24742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1316" cy="2474254"/>
            </a:xfrm>
            <a:custGeom>
              <a:avLst/>
              <a:gdLst/>
              <a:ahLst/>
              <a:cxnLst/>
              <a:rect r="r" b="b" t="t" l="l"/>
              <a:pathLst>
                <a:path h="2474254" w="4591316">
                  <a:moveTo>
                    <a:pt x="0" y="0"/>
                  </a:moveTo>
                  <a:lnTo>
                    <a:pt x="4591316" y="0"/>
                  </a:lnTo>
                  <a:lnTo>
                    <a:pt x="4591316" y="2474254"/>
                  </a:lnTo>
                  <a:lnTo>
                    <a:pt x="0" y="2474254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1316" cy="251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09369" y="4401584"/>
            <a:ext cx="1961140" cy="19611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6721" t="0" r="-26092" b="-12893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754061" y="4487309"/>
            <a:ext cx="1961140" cy="19611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601116" y="4487309"/>
            <a:ext cx="1961140" cy="19611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61880" y="4487309"/>
            <a:ext cx="1961140" cy="19611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462335" y="1028700"/>
            <a:ext cx="2471755" cy="2471755"/>
          </a:xfrm>
          <a:custGeom>
            <a:avLst/>
            <a:gdLst/>
            <a:ahLst/>
            <a:cxnLst/>
            <a:rect r="r" b="b" t="t" l="l"/>
            <a:pathLst>
              <a:path h="2471755" w="2471755">
                <a:moveTo>
                  <a:pt x="0" y="0"/>
                </a:moveTo>
                <a:lnTo>
                  <a:pt x="2471755" y="0"/>
                </a:lnTo>
                <a:lnTo>
                  <a:pt x="2471755" y="2471755"/>
                </a:lnTo>
                <a:lnTo>
                  <a:pt x="0" y="24717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63444" y="7110519"/>
            <a:ext cx="176071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Arthur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99075" y="7110519"/>
            <a:ext cx="249107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Gustavo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90659" y="7110519"/>
            <a:ext cx="249107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Miguel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53357" y="7110519"/>
            <a:ext cx="249107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Raquel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577" y="0"/>
            <a:ext cx="18380577" cy="4681629"/>
            <a:chOff x="0" y="0"/>
            <a:chExt cx="4840975" cy="1233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0975" cy="1233022"/>
            </a:xfrm>
            <a:custGeom>
              <a:avLst/>
              <a:gdLst/>
              <a:ahLst/>
              <a:cxnLst/>
              <a:rect r="r" b="b" t="t" l="l"/>
              <a:pathLst>
                <a:path h="1233022" w="4840975">
                  <a:moveTo>
                    <a:pt x="0" y="0"/>
                  </a:moveTo>
                  <a:lnTo>
                    <a:pt x="4840975" y="0"/>
                  </a:lnTo>
                  <a:lnTo>
                    <a:pt x="4840975" y="1233022"/>
                  </a:lnTo>
                  <a:lnTo>
                    <a:pt x="0" y="12330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40975" cy="1271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24659" y="4924425"/>
            <a:ext cx="15169601" cy="483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205" indent="-442603" lvl="1">
              <a:lnSpc>
                <a:spcPts val="6355"/>
              </a:lnSpc>
              <a:buAutoNum type="arabicPeriod" startAt="1"/>
            </a:pP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 que seria Produtor-Consumidor</a:t>
            </a:r>
          </a:p>
          <a:p>
            <a:pPr algn="l" marL="885205" indent="-442603" lvl="1">
              <a:lnSpc>
                <a:spcPts val="6355"/>
              </a:lnSpc>
              <a:buAutoNum type="arabicPeriod" startAt="1"/>
            </a:pP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Problema do Produtor-Consumidor</a:t>
            </a:r>
          </a:p>
          <a:p>
            <a:pPr algn="l" marL="885205" indent="-442603" lvl="1">
              <a:lnSpc>
                <a:spcPts val="6355"/>
              </a:lnSpc>
              <a:buAutoNum type="arabicPeriod" startAt="1"/>
            </a:pP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Bibliotecas usadas</a:t>
            </a:r>
          </a:p>
          <a:p>
            <a:pPr algn="l" marL="885205" indent="-442603" lvl="1">
              <a:lnSpc>
                <a:spcPts val="6355"/>
              </a:lnSpc>
              <a:buAutoNum type="arabicPeriod" startAt="1"/>
            </a:pP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Apresentar parte do código</a:t>
            </a:r>
          </a:p>
          <a:p>
            <a:pPr algn="l" marL="885205" indent="-442603" lvl="1">
              <a:lnSpc>
                <a:spcPts val="6355"/>
              </a:lnSpc>
              <a:buAutoNum type="arabicPeriod" startAt="1"/>
            </a:pP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Demonstração do funcionamento do sistema</a:t>
            </a:r>
          </a:p>
          <a:p>
            <a:pPr algn="l" marL="885205" indent="-442603" lvl="1">
              <a:lnSpc>
                <a:spcPts val="6355"/>
              </a:lnSpc>
              <a:buAutoNum type="arabicPeriod" startAt="1"/>
            </a:pP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Observações e dificuldades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72943" y="8370424"/>
            <a:ext cx="1697618" cy="1697618"/>
          </a:xfrm>
          <a:custGeom>
            <a:avLst/>
            <a:gdLst/>
            <a:ahLst/>
            <a:cxnLst/>
            <a:rect r="r" b="b" t="t" l="l"/>
            <a:pathLst>
              <a:path h="1697618" w="1697618">
                <a:moveTo>
                  <a:pt x="0" y="0"/>
                </a:moveTo>
                <a:lnTo>
                  <a:pt x="1697618" y="0"/>
                </a:lnTo>
                <a:lnTo>
                  <a:pt x="1697618" y="1697618"/>
                </a:lnTo>
                <a:lnTo>
                  <a:pt x="0" y="169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66633" y="-1274260"/>
            <a:ext cx="13653363" cy="11965310"/>
          </a:xfrm>
          <a:custGeom>
            <a:avLst/>
            <a:gdLst/>
            <a:ahLst/>
            <a:cxnLst/>
            <a:rect r="r" b="b" t="t" l="l"/>
            <a:pathLst>
              <a:path h="11965310" w="13653363">
                <a:moveTo>
                  <a:pt x="0" y="0"/>
                </a:moveTo>
                <a:lnTo>
                  <a:pt x="13653363" y="0"/>
                </a:lnTo>
                <a:lnTo>
                  <a:pt x="13653363" y="11965310"/>
                </a:lnTo>
                <a:lnTo>
                  <a:pt x="0" y="11965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79478" y="1963487"/>
            <a:ext cx="1623060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 spc="499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SUMÁRIO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4239357">
            <a:off x="-6303540" y="-3279486"/>
            <a:ext cx="13653363" cy="11965310"/>
          </a:xfrm>
          <a:custGeom>
            <a:avLst/>
            <a:gdLst/>
            <a:ahLst/>
            <a:cxnLst/>
            <a:rect r="r" b="b" t="t" l="l"/>
            <a:pathLst>
              <a:path h="11965310" w="13653363">
                <a:moveTo>
                  <a:pt x="0" y="0"/>
                </a:moveTo>
                <a:lnTo>
                  <a:pt x="13653362" y="0"/>
                </a:lnTo>
                <a:lnTo>
                  <a:pt x="13653362" y="11965311"/>
                </a:lnTo>
                <a:lnTo>
                  <a:pt x="0" y="11965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577" y="0"/>
            <a:ext cx="18380577" cy="2552724"/>
            <a:chOff x="0" y="0"/>
            <a:chExt cx="4840975" cy="672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0975" cy="672322"/>
            </a:xfrm>
            <a:custGeom>
              <a:avLst/>
              <a:gdLst/>
              <a:ahLst/>
              <a:cxnLst/>
              <a:rect r="r" b="b" t="t" l="l"/>
              <a:pathLst>
                <a:path h="672322" w="4840975">
                  <a:moveTo>
                    <a:pt x="0" y="0"/>
                  </a:moveTo>
                  <a:lnTo>
                    <a:pt x="4840975" y="0"/>
                  </a:lnTo>
                  <a:lnTo>
                    <a:pt x="4840975" y="672322"/>
                  </a:lnTo>
                  <a:lnTo>
                    <a:pt x="0" y="6723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40975" cy="710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72943" y="8370424"/>
            <a:ext cx="1697618" cy="1697618"/>
          </a:xfrm>
          <a:custGeom>
            <a:avLst/>
            <a:gdLst/>
            <a:ahLst/>
            <a:cxnLst/>
            <a:rect r="r" b="b" t="t" l="l"/>
            <a:pathLst>
              <a:path h="1697618" w="1697618">
                <a:moveTo>
                  <a:pt x="0" y="0"/>
                </a:moveTo>
                <a:lnTo>
                  <a:pt x="1697618" y="0"/>
                </a:lnTo>
                <a:lnTo>
                  <a:pt x="1697618" y="1697618"/>
                </a:lnTo>
                <a:lnTo>
                  <a:pt x="0" y="169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075" y="676287"/>
            <a:ext cx="1575348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0"/>
              </a:lnSpc>
            </a:pPr>
            <a:r>
              <a:rPr lang="en-US" b="true" sz="6175" spc="308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O QUE SERIA PRODUTOR-CONSUMIDOR?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8554" y="3114404"/>
            <a:ext cx="13866850" cy="563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5"/>
              </a:lnSpc>
            </a:pP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 problema produtor-consumidor </a:t>
            </a:r>
            <a:r>
              <a:rPr lang="en-US" sz="4100" b="true">
                <a:solidFill>
                  <a:srgbClr val="000000"/>
                </a:solidFill>
                <a:latin typeface="Futura Medium"/>
                <a:ea typeface="Futura Medium"/>
                <a:cs typeface="Futura Medium"/>
                <a:sym typeface="Futura Medium"/>
              </a:rPr>
              <a:t>é um clássico desafio de </a:t>
            </a:r>
            <a:r>
              <a:rPr lang="en-US" sz="41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sincronização de processos</a:t>
            </a: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. Ele ocorre quando dois processos compartilham um espaço de memória comum (o buffer): o </a:t>
            </a:r>
            <a:r>
              <a:rPr lang="en-US" sz="41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produtor</a:t>
            </a: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gera dados e os armazena, enquanto o </a:t>
            </a:r>
            <a:r>
              <a:rPr lang="en-US" sz="41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consumidor</a:t>
            </a:r>
            <a:r>
              <a:rPr lang="en-US" sz="41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os retira para processamento. O objetivo é garantir que o produtor não sobrecarregue o buffer e o consumidor não acesse dados inválidos. 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577" y="0"/>
            <a:ext cx="18380577" cy="2335171"/>
            <a:chOff x="0" y="0"/>
            <a:chExt cx="4840975" cy="615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0975" cy="615024"/>
            </a:xfrm>
            <a:custGeom>
              <a:avLst/>
              <a:gdLst/>
              <a:ahLst/>
              <a:cxnLst/>
              <a:rect r="r" b="b" t="t" l="l"/>
              <a:pathLst>
                <a:path h="615024" w="4840975">
                  <a:moveTo>
                    <a:pt x="0" y="0"/>
                  </a:moveTo>
                  <a:lnTo>
                    <a:pt x="4840975" y="0"/>
                  </a:lnTo>
                  <a:lnTo>
                    <a:pt x="4840975" y="615024"/>
                  </a:lnTo>
                  <a:lnTo>
                    <a:pt x="0" y="6150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40975" cy="653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862647"/>
            <a:ext cx="15169601" cy="669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79" indent="-367039" lvl="1">
              <a:lnSpc>
                <a:spcPts val="527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 desafio principal: A dificuldade de sincronizar tarefas simultâneas/concorrentes.</a:t>
            </a:r>
          </a:p>
          <a:p>
            <a:pPr algn="l" marL="734079" indent="-367039" lvl="1">
              <a:lnSpc>
                <a:spcPts val="527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Sem esse controle rigoroso:</a:t>
            </a:r>
          </a:p>
          <a:p>
            <a:pPr algn="l" marL="1468158" indent="-489386" lvl="2">
              <a:lnSpc>
                <a:spcPts val="5270"/>
              </a:lnSpc>
              <a:buFont typeface="Arial"/>
              <a:buChar char="⚬"/>
            </a:pPr>
            <a:r>
              <a:rPr lang="en-US" sz="3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 o Produtor for muito rápido, o buffer transborda e dados são descartados.</a:t>
            </a:r>
          </a:p>
          <a:p>
            <a:pPr algn="l" marL="1468158" indent="-489386" lvl="2">
              <a:lnSpc>
                <a:spcPts val="5270"/>
              </a:lnSpc>
              <a:buFont typeface="Arial"/>
              <a:buChar char="⚬"/>
            </a:pPr>
            <a:r>
              <a:rPr lang="en-US" sz="3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 o Consumidor for muito rápido, ele tenta processar o que não existe, causando falhas graves.</a:t>
            </a:r>
          </a:p>
          <a:p>
            <a:pPr algn="l" marL="734079" indent="-367039" lvl="1">
              <a:lnSpc>
                <a:spcPts val="527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 solução exige proteger o acesso ao buffer (Região Crítica), garantindo que um espere o outro através de bloqueios.</a:t>
            </a:r>
          </a:p>
          <a:p>
            <a:pPr algn="l">
              <a:lnSpc>
                <a:spcPts val="527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72943" y="8370424"/>
            <a:ext cx="1697618" cy="1697618"/>
          </a:xfrm>
          <a:custGeom>
            <a:avLst/>
            <a:gdLst/>
            <a:ahLst/>
            <a:cxnLst/>
            <a:rect r="r" b="b" t="t" l="l"/>
            <a:pathLst>
              <a:path h="1697618" w="1697618">
                <a:moveTo>
                  <a:pt x="0" y="0"/>
                </a:moveTo>
                <a:lnTo>
                  <a:pt x="1697618" y="0"/>
                </a:lnTo>
                <a:lnTo>
                  <a:pt x="1697618" y="1697618"/>
                </a:lnTo>
                <a:lnTo>
                  <a:pt x="0" y="169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58470" y="628837"/>
            <a:ext cx="15905100" cy="97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90"/>
              </a:lnSpc>
            </a:pPr>
            <a:r>
              <a:rPr lang="en-US" b="true" sz="5742" spc="287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PROBLEMA DO PRODUTOR-CONSUMIDOR?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673" y="446284"/>
            <a:ext cx="17432654" cy="9394432"/>
            <a:chOff x="0" y="0"/>
            <a:chExt cx="4591316" cy="24742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1316" cy="2474254"/>
            </a:xfrm>
            <a:custGeom>
              <a:avLst/>
              <a:gdLst/>
              <a:ahLst/>
              <a:cxnLst/>
              <a:rect r="r" b="b" t="t" l="l"/>
              <a:pathLst>
                <a:path h="2474254" w="4591316">
                  <a:moveTo>
                    <a:pt x="0" y="0"/>
                  </a:moveTo>
                  <a:lnTo>
                    <a:pt x="4591316" y="0"/>
                  </a:lnTo>
                  <a:lnTo>
                    <a:pt x="4591316" y="2474254"/>
                  </a:lnTo>
                  <a:lnTo>
                    <a:pt x="0" y="24742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1316" cy="251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14956" y="7880664"/>
            <a:ext cx="1697618" cy="1697618"/>
          </a:xfrm>
          <a:custGeom>
            <a:avLst/>
            <a:gdLst/>
            <a:ahLst/>
            <a:cxnLst/>
            <a:rect r="r" b="b" t="t" l="l"/>
            <a:pathLst>
              <a:path h="1697618" w="1697618">
                <a:moveTo>
                  <a:pt x="0" y="0"/>
                </a:moveTo>
                <a:lnTo>
                  <a:pt x="1697618" y="0"/>
                </a:lnTo>
                <a:lnTo>
                  <a:pt x="1697618" y="1697618"/>
                </a:lnTo>
                <a:lnTo>
                  <a:pt x="0" y="169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04875"/>
            <a:ext cx="16230600" cy="109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“Biblioteca” Usada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872" y="1876452"/>
            <a:ext cx="7155556" cy="109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“Corroutines”: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56759" y="4533900"/>
            <a:ext cx="7155556" cy="109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04614"/>
            <a:ext cx="9743168" cy="584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Decidimos usar essa função nativa da Linguagem Lua pelo fato de houvemos difículdades em fazer a biblioteca “Lua Lanes” funcionar com o Docker, que também permite criar um “Maestro” (main.lua) que simula o comportamento das “threads” e dos semáforos de maneira nativa na própria linguagem.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0475" y="-4748408"/>
            <a:ext cx="19117432" cy="10859072"/>
            <a:chOff x="0" y="0"/>
            <a:chExt cx="5035044" cy="286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5044" cy="2860003"/>
            </a:xfrm>
            <a:custGeom>
              <a:avLst/>
              <a:gdLst/>
              <a:ahLst/>
              <a:cxnLst/>
              <a:rect r="r" b="b" t="t" l="l"/>
              <a:pathLst>
                <a:path h="2860003" w="5035044">
                  <a:moveTo>
                    <a:pt x="0" y="0"/>
                  </a:moveTo>
                  <a:lnTo>
                    <a:pt x="5035044" y="0"/>
                  </a:lnTo>
                  <a:lnTo>
                    <a:pt x="5035044" y="2860003"/>
                  </a:lnTo>
                  <a:lnTo>
                    <a:pt x="0" y="28600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5044" cy="2898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14956" y="7880664"/>
            <a:ext cx="1697618" cy="1697618"/>
          </a:xfrm>
          <a:custGeom>
            <a:avLst/>
            <a:gdLst/>
            <a:ahLst/>
            <a:cxnLst/>
            <a:rect r="r" b="b" t="t" l="l"/>
            <a:pathLst>
              <a:path h="1697618" w="1697618">
                <a:moveTo>
                  <a:pt x="0" y="0"/>
                </a:moveTo>
                <a:lnTo>
                  <a:pt x="1697618" y="0"/>
                </a:lnTo>
                <a:lnTo>
                  <a:pt x="1697618" y="1697618"/>
                </a:lnTo>
                <a:lnTo>
                  <a:pt x="0" y="169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6148" y="-815163"/>
            <a:ext cx="20262708" cy="8289290"/>
          </a:xfrm>
          <a:custGeom>
            <a:avLst/>
            <a:gdLst/>
            <a:ahLst/>
            <a:cxnLst/>
            <a:rect r="r" b="b" t="t" l="l"/>
            <a:pathLst>
              <a:path h="8289290" w="20262708">
                <a:moveTo>
                  <a:pt x="0" y="0"/>
                </a:moveTo>
                <a:lnTo>
                  <a:pt x="20262709" y="0"/>
                </a:lnTo>
                <a:lnTo>
                  <a:pt x="20262709" y="8289290"/>
                </a:lnTo>
                <a:lnTo>
                  <a:pt x="0" y="82892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1276" y="6867525"/>
            <a:ext cx="1124544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Link:https://github.com/Raquel-M325/2026-1-atividade-2-1/tree/main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5259" y="3171334"/>
            <a:ext cx="15868561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 spc="36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APRESENTAR PARTE DO CÓDIGO</a:t>
            </a:r>
          </a:p>
          <a:p>
            <a:pPr algn="ctr">
              <a:lnSpc>
                <a:spcPts val="864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0475" y="-4748408"/>
            <a:ext cx="19117432" cy="10859072"/>
            <a:chOff x="0" y="0"/>
            <a:chExt cx="5035044" cy="286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5044" cy="2860003"/>
            </a:xfrm>
            <a:custGeom>
              <a:avLst/>
              <a:gdLst/>
              <a:ahLst/>
              <a:cxnLst/>
              <a:rect r="r" b="b" t="t" l="l"/>
              <a:pathLst>
                <a:path h="2860003" w="5035044">
                  <a:moveTo>
                    <a:pt x="0" y="0"/>
                  </a:moveTo>
                  <a:lnTo>
                    <a:pt x="5035044" y="0"/>
                  </a:lnTo>
                  <a:lnTo>
                    <a:pt x="5035044" y="2860003"/>
                  </a:lnTo>
                  <a:lnTo>
                    <a:pt x="0" y="28600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5044" cy="2898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14956" y="7880664"/>
            <a:ext cx="1697618" cy="1697618"/>
          </a:xfrm>
          <a:custGeom>
            <a:avLst/>
            <a:gdLst/>
            <a:ahLst/>
            <a:cxnLst/>
            <a:rect r="r" b="b" t="t" l="l"/>
            <a:pathLst>
              <a:path h="1697618" w="1697618">
                <a:moveTo>
                  <a:pt x="0" y="0"/>
                </a:moveTo>
                <a:lnTo>
                  <a:pt x="1697618" y="0"/>
                </a:lnTo>
                <a:lnTo>
                  <a:pt x="1697618" y="1697618"/>
                </a:lnTo>
                <a:lnTo>
                  <a:pt x="0" y="169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6148" y="-815163"/>
            <a:ext cx="20262708" cy="8289290"/>
          </a:xfrm>
          <a:custGeom>
            <a:avLst/>
            <a:gdLst/>
            <a:ahLst/>
            <a:cxnLst/>
            <a:rect r="r" b="b" t="t" l="l"/>
            <a:pathLst>
              <a:path h="8289290" w="20262708">
                <a:moveTo>
                  <a:pt x="0" y="0"/>
                </a:moveTo>
                <a:lnTo>
                  <a:pt x="20262709" y="0"/>
                </a:lnTo>
                <a:lnTo>
                  <a:pt x="20262709" y="8289290"/>
                </a:lnTo>
                <a:lnTo>
                  <a:pt x="0" y="82892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10838" r="0" b="0"/>
          <a:stretch>
            <a:fillRect/>
          </a:stretch>
        </p:blipFill>
        <p:spPr>
          <a:xfrm flipH="false" flipV="false" rot="0">
            <a:off x="-343302" y="5619"/>
            <a:ext cx="19086762" cy="9572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2022" y="-286036"/>
            <a:ext cx="8737074" cy="10859072"/>
            <a:chOff x="0" y="0"/>
            <a:chExt cx="2301122" cy="286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122" cy="2860003"/>
            </a:xfrm>
            <a:custGeom>
              <a:avLst/>
              <a:gdLst/>
              <a:ahLst/>
              <a:cxnLst/>
              <a:rect r="r" b="b" t="t" l="l"/>
              <a:pathLst>
                <a:path h="2860003" w="2301122">
                  <a:moveTo>
                    <a:pt x="0" y="0"/>
                  </a:moveTo>
                  <a:lnTo>
                    <a:pt x="2301122" y="0"/>
                  </a:lnTo>
                  <a:lnTo>
                    <a:pt x="2301122" y="2860003"/>
                  </a:lnTo>
                  <a:lnTo>
                    <a:pt x="0" y="28600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01122" cy="2898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2833" y="3992159"/>
            <a:ext cx="7835919" cy="543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Entender a lógica.</a:t>
            </a:r>
          </a:p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Dependência entre arquivos para testes.</a:t>
            </a:r>
          </a:p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Utilização apenas de coroutines, sem bibliotecas.</a:t>
            </a: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05635" y="895350"/>
            <a:ext cx="7119846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b="true" sz="6900" spc="345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OBSERVAÇÕES E DIFICULDADES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57320" y="8409491"/>
            <a:ext cx="1697618" cy="1697618"/>
          </a:xfrm>
          <a:custGeom>
            <a:avLst/>
            <a:gdLst/>
            <a:ahLst/>
            <a:cxnLst/>
            <a:rect r="r" b="b" t="t" l="l"/>
            <a:pathLst>
              <a:path h="1697618" w="1697618">
                <a:moveTo>
                  <a:pt x="0" y="0"/>
                </a:moveTo>
                <a:lnTo>
                  <a:pt x="1697618" y="0"/>
                </a:lnTo>
                <a:lnTo>
                  <a:pt x="1697618" y="1697618"/>
                </a:lnTo>
                <a:lnTo>
                  <a:pt x="0" y="169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5512" y="8589539"/>
            <a:ext cx="22150183" cy="3923436"/>
            <a:chOff x="0" y="0"/>
            <a:chExt cx="5833793" cy="1033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33793" cy="1033333"/>
            </a:xfrm>
            <a:custGeom>
              <a:avLst/>
              <a:gdLst/>
              <a:ahLst/>
              <a:cxnLst/>
              <a:rect r="r" b="b" t="t" l="l"/>
              <a:pathLst>
                <a:path h="1033333" w="5833793">
                  <a:moveTo>
                    <a:pt x="0" y="0"/>
                  </a:moveTo>
                  <a:lnTo>
                    <a:pt x="5833793" y="0"/>
                  </a:lnTo>
                  <a:lnTo>
                    <a:pt x="5833793" y="1033333"/>
                  </a:lnTo>
                  <a:lnTo>
                    <a:pt x="0" y="1033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833793" cy="107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561507" y="1644850"/>
            <a:ext cx="3354570" cy="3354570"/>
          </a:xfrm>
          <a:custGeom>
            <a:avLst/>
            <a:gdLst/>
            <a:ahLst/>
            <a:cxnLst/>
            <a:rect r="r" b="b" t="t" l="l"/>
            <a:pathLst>
              <a:path h="3354570" w="3354570">
                <a:moveTo>
                  <a:pt x="0" y="0"/>
                </a:moveTo>
                <a:lnTo>
                  <a:pt x="3354570" y="0"/>
                </a:lnTo>
                <a:lnTo>
                  <a:pt x="3354570" y="3354570"/>
                </a:lnTo>
                <a:lnTo>
                  <a:pt x="0" y="335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3211" y="5809382"/>
            <a:ext cx="16651162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 spc="400">
                <a:solidFill>
                  <a:srgbClr val="322D27"/>
                </a:solidFill>
                <a:latin typeface="Futura Bold"/>
                <a:ea typeface="Futura Bold"/>
                <a:cs typeface="Futura Bold"/>
                <a:sym typeface="Futura Bold"/>
              </a:rPr>
              <a:t>OBRIGADO PELA ATENÇÃO!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251081">
            <a:off x="-6826681" y="-4732359"/>
            <a:ext cx="13653363" cy="11965310"/>
          </a:xfrm>
          <a:custGeom>
            <a:avLst/>
            <a:gdLst/>
            <a:ahLst/>
            <a:cxnLst/>
            <a:rect r="r" b="b" t="t" l="l"/>
            <a:pathLst>
              <a:path h="11965310" w="13653363">
                <a:moveTo>
                  <a:pt x="0" y="0"/>
                </a:moveTo>
                <a:lnTo>
                  <a:pt x="13653362" y="0"/>
                </a:lnTo>
                <a:lnTo>
                  <a:pt x="13653362" y="11965311"/>
                </a:lnTo>
                <a:lnTo>
                  <a:pt x="0" y="11965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72458">
            <a:off x="11573235" y="-3189672"/>
            <a:ext cx="13653363" cy="11965310"/>
          </a:xfrm>
          <a:custGeom>
            <a:avLst/>
            <a:gdLst/>
            <a:ahLst/>
            <a:cxnLst/>
            <a:rect r="r" b="b" t="t" l="l"/>
            <a:pathLst>
              <a:path h="11965310" w="13653363">
                <a:moveTo>
                  <a:pt x="0" y="0"/>
                </a:moveTo>
                <a:lnTo>
                  <a:pt x="13653362" y="0"/>
                </a:lnTo>
                <a:lnTo>
                  <a:pt x="13653362" y="11965311"/>
                </a:lnTo>
                <a:lnTo>
                  <a:pt x="0" y="11965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DAHOMby-TRQ</dc:identifier>
  <dcterms:modified xsi:type="dcterms:W3CDTF">2011-08-01T06:04:30Z</dcterms:modified>
  <cp:revision>1</cp:revision>
  <dc:title>Implementação do Problema Produtor–Consumidor em Lua</dc:title>
</cp:coreProperties>
</file>